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ero-ai-hr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10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298525"/>
            <a:ext cx="6096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90526"/>
            <a:ext cx="8595360" cy="72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eh2r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870716" y="2362498"/>
            <a:ext cx="3402568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1600"/>
              </a:spcAft>
              <a:buNone/>
            </a:pPr>
            <a:r>
              <a:rPr lang="en-US" sz="2000" spc="200" kern="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HRMS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67200" y="2895898"/>
            <a:ext cx="6096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93779" y="3238798"/>
            <a:ext cx="4756294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Multi-Company AI-Driven HR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61173" y="3644950"/>
            <a:ext cx="38215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Product of MARQ AI | Investor Pitch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5550"/>
            <a:ext cx="268405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HR Crisis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28526"/>
            <a:ext cx="507950" cy="38100"/>
          </a:xfrm>
          <a:prstGeom prst="rect">
            <a:avLst/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69777"/>
            <a:ext cx="7924800" cy="831800"/>
          </a:xfrm>
          <a:prstGeom prst="roundRect">
            <a:avLst>
              <a:gd name="adj" fmla="val 122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23170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527" y="1376065"/>
            <a:ext cx="52619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57176" y="1295102"/>
            <a:ext cx="21910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HR Processes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57176" y="1504652"/>
            <a:ext cx="354074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Organizations rely on spreadsheets for core HR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028527"/>
            <a:ext cx="7924800" cy="831800"/>
          </a:xfrm>
          <a:prstGeom prst="roundRect">
            <a:avLst>
              <a:gd name="adj" fmla="val 122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19045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4818" y="2344341"/>
            <a:ext cx="39372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57176" y="2253853"/>
            <a:ext cx="21558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Payroll Errors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57176" y="2463403"/>
            <a:ext cx="340027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Costly mistakes from fragmented HR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2987278"/>
            <a:ext cx="7924800" cy="831800"/>
          </a:xfrm>
          <a:prstGeom prst="roundRect">
            <a:avLst>
              <a:gd name="adj" fmla="val 122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14920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4045" y="3303091"/>
            <a:ext cx="36973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57176" y="3212604"/>
            <a:ext cx="202767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Hiring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57176" y="3422154"/>
            <a:ext cx="283850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recruitment drains productivity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946029"/>
            <a:ext cx="7924800" cy="831800"/>
          </a:xfrm>
          <a:prstGeom prst="roundRect">
            <a:avLst>
              <a:gd name="adj" fmla="val 122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107954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0977" y="4261842"/>
            <a:ext cx="45595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57176" y="4171355"/>
            <a:ext cx="261037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Disengagement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57176" y="4380905"/>
            <a:ext cx="4090645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modern HR tech, employees feel disconnected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364903"/>
            <a:ext cx="2613764" cy="132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</a:t>
            </a:r>
            <a:endParaRPr lang="en-US" sz="42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06301" y="2794695"/>
            <a:ext cx="406301" cy="381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3035945"/>
            <a:ext cx="261376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080B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hire to retire, every workflow is intelligent, automated, and connected.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59101" y="1064121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6802" y="1013371"/>
            <a:ext cx="25309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Integrated Modules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6802" y="1270546"/>
            <a:ext cx="49041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HR coverage from recruitment to exit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59101" y="1800523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6802" y="1749772"/>
            <a:ext cx="27041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6802" y="2006947"/>
            <a:ext cx="4478841" cy="47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analytics, automated workflows, smart decision-making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59101" y="2711351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36802" y="2660600"/>
            <a:ext cx="28767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6802" y="2917775"/>
            <a:ext cx="415776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isolation for companies of all sizes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59101" y="3447752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6802" y="3397002"/>
            <a:ext cx="31042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Role-Based Dashboards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6802" y="3654177"/>
            <a:ext cx="4931866" cy="47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views for Super Admin, HR, Managers, Employees, and more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3293" y="355550"/>
            <a:ext cx="6457414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Modules. 9 Categories. Zero Gaps.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930176"/>
            <a:ext cx="2438400" cy="1025426"/>
          </a:xfrm>
          <a:prstGeom prst="roundRect">
            <a:avLst>
              <a:gd name="adj" fmla="val 12385"/>
            </a:avLst>
          </a:prstGeom>
          <a:solidFill>
            <a:srgbClr val="00F5A0">
              <a:alpha val="8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82567" y="1142851"/>
            <a:ext cx="29246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4011" y="1571476"/>
            <a:ext cx="150943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Categories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930176"/>
            <a:ext cx="2438400" cy="1025426"/>
          </a:xfrm>
          <a:prstGeom prst="roundRect">
            <a:avLst>
              <a:gd name="adj" fmla="val 12385"/>
            </a:avLst>
          </a:prstGeom>
          <a:solidFill>
            <a:srgbClr val="FF5E3A">
              <a:alpha val="8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73537" y="1142851"/>
            <a:ext cx="8919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20745" y="1571476"/>
            <a:ext cx="119770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91200" y="930176"/>
            <a:ext cx="2438400" cy="1025426"/>
          </a:xfrm>
          <a:prstGeom prst="roundRect">
            <a:avLst>
              <a:gd name="adj" fmla="val 12385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17935" y="1142851"/>
            <a:ext cx="58493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0645" y="1571476"/>
            <a:ext cx="195936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Dashboards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209502"/>
            <a:ext cx="2539901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525" y="2371427"/>
            <a:ext cx="858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HR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1525" y="2590502"/>
            <a:ext cx="1976966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Directory, Company Masters, RBAC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1901" y="2209502"/>
            <a:ext cx="2540050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3826" y="2371427"/>
            <a:ext cx="61602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63826" y="2590502"/>
            <a:ext cx="2118233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Recruitment, AI Interview, Job Portal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94350" y="2209502"/>
            <a:ext cx="2540050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6275" y="2371427"/>
            <a:ext cx="1509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&amp; Finance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56275" y="2590502"/>
            <a:ext cx="1792724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Attendance, Leave, Payroll, Timesheet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581698"/>
            <a:ext cx="2539901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" y="3743623"/>
            <a:ext cx="125141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1525" y="3962698"/>
            <a:ext cx="2077603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Reviews, OKRs, 360 Feedback, LMS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1901" y="3581698"/>
            <a:ext cx="2540050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3826" y="3743623"/>
            <a:ext cx="7274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63826" y="3962698"/>
            <a:ext cx="19872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Client, Vendor, Sub-Vendor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94350" y="3581698"/>
            <a:ext cx="2540050" cy="914995"/>
          </a:xfrm>
          <a:prstGeom prst="roundRect">
            <a:avLst>
              <a:gd name="adj" fmla="val 111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56275" y="3743623"/>
            <a:ext cx="21358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&amp;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56275" y="3962698"/>
            <a:ext cx="2091199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Helpdesk, AI Chatbot, Workflow, Audit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0797" y="406301"/>
            <a:ext cx="2302407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AI-First HR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17950" y="917377"/>
            <a:ext cx="50795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250" y="1260277"/>
            <a:ext cx="2438400" cy="1704975"/>
          </a:xfrm>
          <a:prstGeom prst="roundRect">
            <a:avLst>
              <a:gd name="adj" fmla="val 7449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4393" y="1584127"/>
            <a:ext cx="711964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50781" y="2098477"/>
            <a:ext cx="135918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Hiring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5353" y="2308027"/>
            <a:ext cx="1610045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resume parsing and candidate ranking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2800" y="1260277"/>
            <a:ext cx="2438400" cy="1704975"/>
          </a:xfrm>
          <a:prstGeom prst="roundRect">
            <a:avLst>
              <a:gd name="adj" fmla="val 7449"/>
            </a:avLst>
          </a:prstGeom>
          <a:solidFill>
            <a:srgbClr val="FF5E3A">
              <a:alpha val="6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1325" y="1584127"/>
            <a:ext cx="1281202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22613" y="2098477"/>
            <a:ext cx="189877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Attrition Prediction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600" y="2308027"/>
            <a:ext cx="1956651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predictive workforce analytics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94350" y="1260277"/>
            <a:ext cx="2438400" cy="1704975"/>
          </a:xfrm>
          <a:prstGeom prst="roundRect">
            <a:avLst>
              <a:gd name="adj" fmla="val 7449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66374" y="1584127"/>
            <a:ext cx="1494353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84775" y="2098477"/>
            <a:ext cx="145755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Payroll Errors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7341" y="2308027"/>
            <a:ext cx="191227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Z-Score anomaly detection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250" y="3422452"/>
            <a:ext cx="2438400" cy="968276"/>
          </a:xfrm>
          <a:prstGeom prst="roundRect">
            <a:avLst>
              <a:gd name="adj" fmla="val 1311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5680" y="3635127"/>
            <a:ext cx="178953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98331" y="3844677"/>
            <a:ext cx="146408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BERT-based feedback 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2800" y="3422452"/>
            <a:ext cx="2438400" cy="968276"/>
          </a:xfrm>
          <a:prstGeom prst="roundRect">
            <a:avLst>
              <a:gd name="adj" fmla="val 1311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61125" y="3635127"/>
            <a:ext cx="142174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8208" y="3844677"/>
            <a:ext cx="23074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description fairness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94350" y="3422452"/>
            <a:ext cx="2438400" cy="968276"/>
          </a:xfrm>
          <a:prstGeom prst="roundRect">
            <a:avLst>
              <a:gd name="adj" fmla="val 1311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0692" y="3635127"/>
            <a:ext cx="18257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Forecast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5984" y="3844677"/>
            <a:ext cx="21151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ARIMA ensemble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64598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Interview - Revolutionize Hiring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25650"/>
            <a:ext cx="3657600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Interview Modes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075111"/>
            <a:ext cx="3048000" cy="161544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Text-based conversations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interview with AI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interview analysis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MCQ assessments</a:t>
            </a:r>
            <a:endParaRPr lang="en-US" sz="1400" dirty="0"/>
          </a:p>
          <a:p>
            <a:pPr algn="l" marL="127000" indent="-1270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challenges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3802261"/>
            <a:ext cx="32004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hiring time from weeks to days while improving candidate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62400" y="1276350"/>
            <a:ext cx="4572000" cy="3301901"/>
          </a:xfrm>
          <a:prstGeom prst="roundRect">
            <a:avLst>
              <a:gd name="adj" fmla="val 3846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ai-recrui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40330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01470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Enterprise Architecture</a:t>
            </a:r>
            <a:endParaRPr lang="en-US" sz="2200" dirty="0"/>
          </a:p>
        </p:txBody>
      </p:sp>
      <p:pic>
        <p:nvPicPr>
          <p:cNvPr id="4" name="Image 0" descr="/tmp/multi-ten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50" y="1657350"/>
            <a:ext cx="3810000" cy="2539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78301" y="1754535"/>
            <a:ext cx="50750" cy="45720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56002" y="1703784"/>
            <a:ext cx="201081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Isolation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56002" y="1941909"/>
            <a:ext cx="2746124" cy="47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branding, policies, and workflows per company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78301" y="262101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56002" y="2570262"/>
            <a:ext cx="170770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4-Tier Hierarchy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56002" y="2808387"/>
            <a:ext cx="3188680" cy="47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Parent to Branch to Department to Team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78301" y="348748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56002" y="3436739"/>
            <a:ext cx="26607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Inter-Company Transfers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56002" y="3674864"/>
            <a:ext cx="3130548" cy="47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employee mobility with shared services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04448" y="406301"/>
            <a:ext cx="393495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17950" y="917377"/>
            <a:ext cx="50795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398" y="1209377"/>
            <a:ext cx="1777901" cy="1336477"/>
          </a:xfrm>
          <a:prstGeom prst="roundRect">
            <a:avLst>
              <a:gd name="adj" fmla="val 9503"/>
            </a:avLst>
          </a:prstGeom>
          <a:solidFill>
            <a:srgbClr val="00F5A0">
              <a:alpha val="8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0294" y="1472803"/>
            <a:ext cx="135996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$38B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07919" y="1949053"/>
            <a:ext cx="138486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HRMS Market 2028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2450" y="1209377"/>
            <a:ext cx="1777901" cy="1336477"/>
          </a:xfrm>
          <a:prstGeom prst="roundRect">
            <a:avLst>
              <a:gd name="adj" fmla="val 9503"/>
            </a:avLst>
          </a:prstGeom>
          <a:solidFill>
            <a:srgbClr val="FF5E3A">
              <a:alpha val="8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74871" y="1472803"/>
            <a:ext cx="161291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58208" y="1949053"/>
            <a:ext cx="14463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Growth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73501" y="1209377"/>
            <a:ext cx="1777901" cy="1336477"/>
          </a:xfrm>
          <a:prstGeom prst="roundRect">
            <a:avLst>
              <a:gd name="adj" fmla="val 9503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3428" y="1472803"/>
            <a:ext cx="151789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$8.5B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74997" y="1949053"/>
            <a:ext cx="15747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HR Market 2028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54552" y="1209377"/>
            <a:ext cx="1777901" cy="1336477"/>
          </a:xfrm>
          <a:prstGeom prst="roundRect">
            <a:avLst>
              <a:gd name="adj" fmla="val 950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74265" y="1472803"/>
            <a:ext cx="113847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81536" y="1949053"/>
            <a:ext cx="152378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Enterprises Adopting AI HR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2799755"/>
            <a:ext cx="7924800" cy="1386929"/>
          </a:xfrm>
          <a:prstGeom prst="roundRect">
            <a:avLst>
              <a:gd name="adj" fmla="val 732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73026" y="3012430"/>
            <a:ext cx="126572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3026" y="3250555"/>
            <a:ext cx="7115421" cy="74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convergence of AI and HR creates a massive opportunity. Legacy HR systems are being replaced at an unprecedented rate. eh2r AI is uniquely positioned at the intersection of this transformation with 30 integrated modules and 6 AI-powered capabilities.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60964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Business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392287"/>
            <a:ext cx="1866900" cy="1806476"/>
          </a:xfrm>
          <a:prstGeom prst="roundRect">
            <a:avLst>
              <a:gd name="adj" fmla="val 5624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604963"/>
            <a:ext cx="8514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1525" y="1871663"/>
            <a:ext cx="1556757" cy="91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100 employees. Basic HRMS, Attendance, Payroll, 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28900" y="1392287"/>
            <a:ext cx="1866900" cy="1806476"/>
          </a:xfrm>
          <a:prstGeom prst="roundRect">
            <a:avLst>
              <a:gd name="adj" fmla="val 5624"/>
            </a:avLst>
          </a:prstGeom>
          <a:solidFill>
            <a:srgbClr val="00F5A0">
              <a:alpha val="10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90825" y="1604963"/>
            <a:ext cx="15119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90825" y="1871663"/>
            <a:ext cx="1556757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500 employees. + Recruitment, PMS, LMS, AI Assistant.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200" y="1392287"/>
            <a:ext cx="1866900" cy="1806476"/>
          </a:xfrm>
          <a:prstGeom prst="roundRect">
            <a:avLst>
              <a:gd name="adj" fmla="val 5624"/>
            </a:avLst>
          </a:prstGeom>
          <a:solidFill>
            <a:srgbClr val="00F5A0">
              <a:alpha val="14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604963"/>
            <a:ext cx="12460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0125" y="1871663"/>
            <a:ext cx="1391893" cy="116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5,000 employees. + Multi-company, AI Workflows, White-label.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67500" y="1392287"/>
            <a:ext cx="1866900" cy="1806476"/>
          </a:xfrm>
          <a:prstGeom prst="roundRect">
            <a:avLst>
              <a:gd name="adj" fmla="val 5624"/>
            </a:avLst>
          </a:prstGeom>
          <a:solidFill>
            <a:srgbClr val="00F5A0">
              <a:alpha val="18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29425" y="1604963"/>
            <a:ext cx="8216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29425" y="1871663"/>
            <a:ext cx="1285004" cy="91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Unlimited. + Multi-country payroll, Dedicated infra, Governance.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427214"/>
            <a:ext cx="2506117" cy="1034951"/>
          </a:xfrm>
          <a:prstGeom prst="roundRect">
            <a:avLst>
              <a:gd name="adj" fmla="val 9817"/>
            </a:avLst>
          </a:prstGeom>
          <a:solidFill>
            <a:srgbClr val="FF5E3A">
              <a:alpha val="6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334" y="3639889"/>
            <a:ext cx="12686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97275" y="4049464"/>
            <a:ext cx="13307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8867" y="3427214"/>
            <a:ext cx="2506266" cy="1034951"/>
          </a:xfrm>
          <a:prstGeom prst="roundRect">
            <a:avLst>
              <a:gd name="adj" fmla="val 9817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6490" y="3639889"/>
            <a:ext cx="113087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048" y="4049464"/>
            <a:ext cx="182975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Subscriptions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28283" y="3427214"/>
            <a:ext cx="2506117" cy="1034951"/>
          </a:xfrm>
          <a:prstGeom prst="roundRect">
            <a:avLst>
              <a:gd name="adj" fmla="val 9817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80550" y="3639889"/>
            <a:ext cx="1001435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77149" y="4049464"/>
            <a:ext cx="22083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Net Dollar Retention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398057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Edge - Built for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3860750" cy="959941"/>
          </a:xfrm>
          <a:prstGeom prst="roundRect">
            <a:avLst>
              <a:gd name="adj" fmla="val 1058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275" y="1025426"/>
            <a:ext cx="10010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275" y="1254026"/>
            <a:ext cx="3266033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 + App Router + React 19 + Tailwind CSS 4 + shadcn/ui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50393"/>
            <a:ext cx="3860750" cy="959941"/>
          </a:xfrm>
          <a:prstGeom prst="roundRect">
            <a:avLst>
              <a:gd name="adj" fmla="val 1058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12318"/>
            <a:ext cx="9631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275" y="2340918"/>
            <a:ext cx="3131954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NextAuth.js + Prisma ORM + 60+ REST API Endpoints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3037284"/>
            <a:ext cx="3860750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3199209"/>
            <a:ext cx="102736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275" y="3427809"/>
            <a:ext cx="371640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Neon PostgreSQL Serverless + Edge Deployment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73501" y="863501"/>
            <a:ext cx="3860899" cy="959941"/>
          </a:xfrm>
          <a:prstGeom prst="roundRect">
            <a:avLst>
              <a:gd name="adj" fmla="val 1058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6176" y="1025426"/>
            <a:ext cx="106528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86176" y="1254026"/>
            <a:ext cx="3263845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z-ai-web-dev-sdk + Custom ML Models + NLP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3501" y="1950393"/>
            <a:ext cx="3860899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176" y="2112318"/>
            <a:ext cx="126119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86176" y="2340918"/>
            <a:ext cx="345842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Edge Network + CDN + Auto-scaling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3501" y="2824014"/>
            <a:ext cx="3860899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6176" y="2985939"/>
            <a:ext cx="7315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6176" y="3214539"/>
            <a:ext cx="339643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Cross-Platform App + PWA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4305300"/>
            <a:ext cx="7924800" cy="533400"/>
          </a:xfrm>
          <a:prstGeom prst="roundRect">
            <a:avLst>
              <a:gd name="adj" fmla="val 19048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44848" y="4467225"/>
            <a:ext cx="70543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Role-Based Access Levels  |  Multi-Company Isolation  |  99.9% Uptime SLA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93910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Experience</a:t>
            </a:r>
            <a:endParaRPr lang="en-US" sz="2200" dirty="0"/>
          </a:p>
        </p:txBody>
      </p:sp>
      <p:pic>
        <p:nvPicPr>
          <p:cNvPr id="4" name="Image 0" descr="/tmp/mobile-ap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77851"/>
            <a:ext cx="1777901" cy="309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54301" y="1816298"/>
            <a:ext cx="50750" cy="406301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632002" y="1765548"/>
            <a:ext cx="2385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Cross-Platform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32002" y="2003673"/>
            <a:ext cx="51370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performance on iOS and Android from a single codebase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54301" y="2435275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32002" y="2384524"/>
            <a:ext cx="198658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Self-Service Portal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32002" y="2622649"/>
            <a:ext cx="46020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Employees access payslips, leaves, and profile on the go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54301" y="3054251"/>
            <a:ext cx="50750" cy="406301"/>
          </a:xfrm>
          <a:prstGeom prst="roundRect">
            <a:avLst>
              <a:gd name="adj" fmla="val 5004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32002" y="3003500"/>
            <a:ext cx="260229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&amp; Approvals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32002" y="3241625"/>
            <a:ext cx="46729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Geo-fenced check-in and instant leave/expense approvals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54301" y="3673227"/>
            <a:ext cx="50750" cy="406301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632002" y="3622477"/>
            <a:ext cx="21211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+ Offline Mode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32002" y="3860602"/>
            <a:ext cx="373064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without internet, syncs when connected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6251" y="355550"/>
            <a:ext cx="3411498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17950" y="828526"/>
            <a:ext cx="50795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6602" y="1338263"/>
            <a:ext cx="594998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74750" y="1300163"/>
            <a:ext cx="50750" cy="60960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651" y="1252538"/>
            <a:ext cx="6705749" cy="704850"/>
          </a:xfrm>
          <a:prstGeom prst="roundRect">
            <a:avLst>
              <a:gd name="adj" fmla="val 14414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41327" y="1414463"/>
            <a:ext cx="219047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Platform Launch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41327" y="1624013"/>
            <a:ext cx="412797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30 modules live, multi-tenant architecture, AI chatbot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6602" y="2220813"/>
            <a:ext cx="594998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4750" y="2182713"/>
            <a:ext cx="50750" cy="609600"/>
          </a:xfrm>
          <a:prstGeom prst="roundRect">
            <a:avLst>
              <a:gd name="adj" fmla="val 50049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8651" y="2135088"/>
            <a:ext cx="6705749" cy="704850"/>
          </a:xfrm>
          <a:prstGeom prst="roundRect">
            <a:avLst>
              <a:gd name="adj" fmla="val 14414"/>
            </a:avLst>
          </a:prstGeom>
          <a:solidFill>
            <a:srgbClr val="FF5E3A">
              <a:alpha val="6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41327" y="2297013"/>
            <a:ext cx="172643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Enhancement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41327" y="2506563"/>
            <a:ext cx="434226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AI interview, predictive attrition, workflow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6602" y="3103364"/>
            <a:ext cx="594998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750" y="3065264"/>
            <a:ext cx="50750" cy="609600"/>
          </a:xfrm>
          <a:prstGeom prst="roundRect">
            <a:avLst>
              <a:gd name="adj" fmla="val 5004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8651" y="3017639"/>
            <a:ext cx="6705749" cy="704850"/>
          </a:xfrm>
          <a:prstGeom prst="roundRect">
            <a:avLst>
              <a:gd name="adj" fmla="val 14414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41327" y="3179564"/>
            <a:ext cx="17710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Expansion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41327" y="3389114"/>
            <a:ext cx="452873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Multi-country payroll, compliance engines, mobile app launch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6602" y="3985915"/>
            <a:ext cx="594998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4750" y="3947815"/>
            <a:ext cx="50750" cy="609600"/>
          </a:xfrm>
          <a:prstGeom prst="roundRect">
            <a:avLst>
              <a:gd name="adj" fmla="val 50049"/>
            </a:avLst>
          </a:prstGeom>
          <a:solidFill>
            <a:srgbClr val="FFFFFF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28651" y="3900190"/>
            <a:ext cx="6705749" cy="704850"/>
          </a:xfrm>
          <a:prstGeom prst="roundRect">
            <a:avLst>
              <a:gd name="adj" fmla="val 1441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41327" y="4062115"/>
            <a:ext cx="16434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41327" y="4271665"/>
            <a:ext cx="460338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solutions, API marketplace, advanced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nalytics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10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197471"/>
            <a:ext cx="6096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40371"/>
            <a:ext cx="8595360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 HR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38096" y="2218432"/>
            <a:ext cx="7467808" cy="61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eh2r AI is transforming how organizations manage their most valuable asset - people.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67200" y="3092053"/>
            <a:ext cx="6096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75733" y="3434953"/>
            <a:ext cx="99253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MARQ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00246" y="3746004"/>
            <a:ext cx="414336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admin@marqai.com | ai-hrms-rho.vercel.app |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MARQ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eh2r AI - Investor Pitch</dc:title>
  <dc:subject>eh2r AI Product Video Presentation</dc:subject>
  <dc:creator>MARQ AI</dc:creator>
  <cp:lastModifiedBy>MARQ AI</cp:lastModifiedBy>
  <cp:revision>1</cp:revision>
  <dcterms:created xsi:type="dcterms:W3CDTF">2026-05-29T07:43:30Z</dcterms:created>
  <dcterms:modified xsi:type="dcterms:W3CDTF">2026-05-29T07:43:30Z</dcterms:modified>
</cp:coreProperties>
</file>